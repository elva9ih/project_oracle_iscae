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s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572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5C28"/>
                </a:solidFill>
              </a:defRPr>
            </a:pPr>
            <a:r>
              <a:t>Oracle dans un Écosystème Applicatif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Gestion des Absences Étudiants — Django + Oracle 18c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2133295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Réalisé par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IP22240 — Cherifa Mohamed Yeslem Bellahi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IP22237 — El Vagih Ahmed Zeine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ISCAE Nouakchott — Master MPIAG — Année universitaire 2025-2026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 Contexte et objectifs du projet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 Architecture technique (Oracle + Django)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 Modèle de données (schéma relationnel)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 PL/SQL : Fonctions, Procédures, Packages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 Triggers et Audit automatique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6.  Vues et Vues Matérialisées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7.  Optimisation et EXPLAIN PLAN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8.  Application Django — Démonstration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9.  Gestion des rôles (Admin, Enseignant, Étudiant)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10. Export (PDF, Excel) et Sauvegarde (Data Pump)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11. Conclusion et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1. Contexte et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A3A"/>
                </a:solidFill>
              </a:defRPr>
            </a:pPr>
            <a: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Projet du module « Oracle dans un Écosystème Applicatif 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Sujet : Gestion des Absences Étudiants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Base de données Oracle 18c XE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Application web Django (Python 3.11)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Répartition : 75% Oracle / 25% 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A3A"/>
                </a:solidFill>
              </a:defRPr>
            </a:pPr>
            <a:r>
              <a:t>Objectifs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Exploiter les fonctionnalités avancées d'Oracle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PL/SQL : packages, fonctions, procédures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Triggers d'audit et de cohérence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Vues matérialisées pour la performance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Intégration Django ↔ Oracle (cx_Oracle)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Gestion des rôles et permissions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27432" cy="4114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2. Architecture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5C28"/>
                </a:solidFill>
              </a:defRPr>
            </a:pPr>
            <a:r>
              <a:t>Oracle 18c XE (75%)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12 tables avec contraintes complètes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23+ index (FK, fonctionnels)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 packages PL/SQL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5 fonctions + 6 procédures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8 triggers (audit + métier)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5 vues + 4 vues matérialisées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120 000+ lignes de données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Transactions (COMMIT, ROLLBACK, SAVEPOINT)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Export Data Pump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5C28"/>
                </a:solidFill>
              </a:defRPr>
            </a:pPr>
            <a:r>
              <a:t>Django 3.2 + Python 3.11 (25%)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CRUD complet (étudiants, enseignants, séances)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Marquage d'absences (appel PL/SQL)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Gestion des justificatifs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Tableau de bord avec Chart.js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 rôles : Admin, Enseignant, Étudiant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Export PDF (ReportLab) et Excel (openpyxl)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Journal d'audit (depuis triggers Oracle)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Interface Bootstrap 5 responsive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Connexion via oracledb / cx_Oracle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2004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7A3A"/>
                </a:solidFill>
              </a:defRPr>
            </a:pPr>
            <a:r>
              <a:t>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3. Modèle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A3A"/>
                </a:solidFill>
              </a:defRPr>
            </a:pPr>
            <a:r>
              <a:t>Tables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FILIERES — Filières d'études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GROUPES — Groupes par filière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SEMESTRES — Périodes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ETUDIANTS — 800 étudiants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A3A"/>
                </a:solidFill>
              </a:defRPr>
            </a:pPr>
            <a:r>
              <a:t>Tables opérationnelles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ENSEIGNANTS — 50 enseignants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MATIERES — 50 matières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AFFECTATIONS — Enseignant↔Matière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SEANCES — 3 000 séances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A3A"/>
                </a:solidFill>
              </a:defRPr>
            </a:pPr>
            <a:r>
              <a:t>Tables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ABSENCES — 120 000+ absences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JUSTIFICATIFS — Documents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AUDIT_LOG — Journal d'audit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NOTIFICATIONS — Alertes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A3A"/>
                </a:solidFill>
              </a:defRPr>
            </a:pPr>
            <a:r>
              <a:t>Contraintes appliquées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PRIMARY KEY (IDENTITY) — Clés primaires auto-incrémentées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FOREIGN KEY — Relations entre tables (CASCADE, SET NULL)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UNIQUE — CNE, matricule, email, combinaisons uniques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CHECK — Statuts valides, dates cohérentes, seuils logiques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NOT NULL — Champs obligatoires sur toutes les tables critiques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23+ INDEX — FK, fonctionnels (UPPER), dates, statuts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4. PL/SQL : Packages, Fonctions, Procédures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5C28"/>
                </a:solidFill>
              </a:defRPr>
            </a:pPr>
            <a:r>
              <a:t>PKG_ABSENCES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Fonctions 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GET_NB_ABSENCES() — Total absences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GET_NB_ABSENCES_NON_JUSTIFIEES()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GET_TAUX_ABSENCE() — Taux en %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EST_EN_DEPASSEMENT() — Seuil dépassé ?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GET_STATUT_ETUDIANT_ABSENCES()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Procédures 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MARQUER_ABSENCE() — Avec validation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MARQUER_ABSENCES_BULK() — En masse (CSV)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JUSTIFIER_ABSENCE() — Soumettre justificatif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TRAITER_JUSTIFICATIF() — Accepter/Refuser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VERIFIER_SEUILS_ETUDIANT() — Auto-exclusion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CLOTURER_SEMESTRE() — Fin de période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5C28"/>
                </a:solidFill>
              </a:defRPr>
            </a:pPr>
            <a:r>
              <a:t>PKG_STATISTIQUES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GET_TOP_ABSENTS() — Classement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GET_STATS_PAR_MATIERE() — Par matière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GET_STATS_PAR_GROUPE() — Par groupe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GET_EVOLUTION_MENSUELLE() — Tendances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GENERER_RAPPORT_ABSENCES() — Rapport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Retourne SYS_REFCURSOR pour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consommation par Django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846320"/>
            <a:ext cx="5029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5C28"/>
                </a:solidFill>
              </a:defRPr>
            </a:pPr>
            <a:r>
              <a:t>Gestion des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394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SAVEPOINT, COMMIT, ROLLBACK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Exceptions personnalisées (RAISE_APPLICATION_ERROR)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5. Triggers et Audit Automatique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</a:defRPr>
            </a:pPr>
            <a:r>
              <a:t>Triggers d'Audit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TRG_AUDIT_ABSENCES — Log INSERT/UPDATE/DELETE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TRG_AUDIT_ETUDIANTS — Suivi modifications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TRG_AUDIT_JUSTIFICATIFS — Traçabilité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→ Stockent anciennes et nouvelles valeurs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→ Table AUDIT_LOG avec CLOB pour les détails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</a:defRPr>
            </a:pPr>
            <a:r>
              <a:t>Triggers Métier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TRG_ABSENCE_DATE_AUTO — Auto-remplir la date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TRG_PROTECT_ABSENCE_JUSTIFIEE — Protection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TRG_CHECK_ETUDIANT_ACTIF — Validation statut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TRG_NOTIF_CHANGEMENT_STATUT — Notification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TRG_SEANCE_EFFECTUEE — Mise à jour auto</a:t>
            </a:r>
          </a:p>
        </p:txBody>
      </p:sp>
      <p:pic>
        <p:nvPicPr>
          <p:cNvPr id="11" name="Picture 10" descr="admin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206240"/>
            <a:ext cx="9144000" cy="2103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6. Vues et Vues Matérialisées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</a:defRPr>
            </a:pPr>
            <a:r>
              <a:t>Vues classiques 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V_ABSENCES_DETAIL — Détails complets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V_RESUME_ABSENCES_ETUDIANT — Résumé/étudiant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V_SEANCES_ABSENTS — Séances + nb absents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V_JUSTIFICATIFS_EN_ATTENTE — À traiter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V_NOTIFICATIONS_NON_LUES — Alertes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</a:defRPr>
            </a:pPr>
            <a:r>
              <a:t>Vues Matérialisées (4)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MV_STATS_PAR_GROUPE — Dashboard groupes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MV_STATS_PAR_MATIERE — Dashboard matières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MV_EVOLUTION_MENSUELLE — Tendances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MV_KPI_GLOBAL — Indicateurs temps réel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→ REFRESH ON DEMAND via REFRESH_ALL_MV()</a:t>
            </a:r>
          </a:p>
        </p:txBody>
      </p:sp>
      <p:pic>
        <p:nvPicPr>
          <p:cNvPr id="11" name="Picture 10" descr="admin_stats_grou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931920"/>
            <a:ext cx="9144000" cy="228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7. Optimisation et EXPLAIN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DBMS_STATS.GATHER_TABLE_STATS — Statistiques pour l'optimiseur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EXPLAIN PLAN FOR — Analyse du plan d'exécution de chaque requête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DBMS_XPLAN.DISPLAY — Affichage formaté du plan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Index créés pour optimiser 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13 index sur clés étrangères (jointures rapides)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Index fonctionnel UPPER(nom, prenom) pour recherche insensible à la casse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Index sur date_seance et date_absence (requêtes temporelles)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Index sur statut et est_justifiee (filtres fréquents)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Comparaison mesurée (SET TIMING ON) 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Requête directe sur tables : ~200ms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• Vue matérialisée MV_STATS_PAR_GROUPE : ~5ms (×40 plus rapide)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Volume de données testé : 120 000+ absences, 3 000 séances, 800 étudiants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8. Application Django — Tableau de Bord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8. Application Django — CRUD et Absences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min_etud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669280" cy="2468880"/>
          </a:xfrm>
          <a:prstGeom prst="rect">
            <a:avLst/>
          </a:prstGeom>
        </p:spPr>
      </p:pic>
      <p:pic>
        <p:nvPicPr>
          <p:cNvPr id="6" name="Picture 5" descr="admin_abs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8404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Liste des étudiants (recherche, filtres, pagination)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Liste des absences (filtres par groupe, matière, date)</a:t>
            </a:r>
          </a:p>
        </p:txBody>
      </p:sp>
      <p:pic>
        <p:nvPicPr>
          <p:cNvPr id="9" name="Picture 8" descr="admin_etudiant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206240"/>
            <a:ext cx="822960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6263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Détail étudiant — KPIs Oracle (fonctions PL/SQL appelées en temps réel)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9. Gestion des Rôles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5C28"/>
                </a:solidFill>
              </a:defRPr>
            </a:pPr>
            <a: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Tout accès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CRUD complet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Gérer utilisateurs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Audit + traitements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6576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5C28"/>
                </a:solidFill>
              </a:defRPr>
            </a:pPr>
            <a:r>
              <a:t>Enseignant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Ses séances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Marquer absences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Voir ses étudiants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Statistiques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371600"/>
            <a:ext cx="36576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5C28"/>
                </a:solidFill>
              </a:defRPr>
            </a:pPr>
            <a:r>
              <a:t>Étudiant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Ses absences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Soumettre justificatif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Ses notifications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Lecture seule</a:t>
            </a:r>
          </a:p>
        </p:txBody>
      </p:sp>
      <p:pic>
        <p:nvPicPr>
          <p:cNvPr id="14" name="Picture 13" descr="enseigna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57600"/>
            <a:ext cx="5760720" cy="2560320"/>
          </a:xfrm>
          <a:prstGeom prst="rect">
            <a:avLst/>
          </a:prstGeom>
        </p:spPr>
      </p:pic>
      <p:pic>
        <p:nvPicPr>
          <p:cNvPr id="15" name="Picture 14" descr="etudian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5760720" cy="2560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62636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Vue Enseignant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62636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Vue Étudiant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8. Connexion et Justificatifs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86400" cy="2743200"/>
          </a:xfrm>
          <a:prstGeom prst="rect">
            <a:avLst/>
          </a:prstGeom>
        </p:spPr>
      </p:pic>
      <p:pic>
        <p:nvPicPr>
          <p:cNvPr id="6" name="Picture 5" descr="admin_justificati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Page de connexion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Gestion des justificatifs (Admin)</a:t>
            </a:r>
          </a:p>
        </p:txBody>
      </p:sp>
      <p:pic>
        <p:nvPicPr>
          <p:cNvPr id="9" name="Picture 8" descr="admin_traite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480560"/>
            <a:ext cx="82296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Traitements Oracle — Appels directs aux procédures PL/SQL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10. Export et Sauvegarde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</a:defRPr>
            </a:pPr>
            <a:r>
              <a:t>Export depuis 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Export Excel (.xlsx) — openpyxl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En-têtes stylés, colonnes ajustées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Jusqu'à 5 000 lignes exportées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Export PDF — ReportLab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Rapport formaté avec en-tête ISCAE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Tableau paginé automatiquement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Jusqu'à 500 lignes par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</a:defRPr>
            </a:pPr>
            <a:r>
              <a:t>Sauvegarde Oracle (Data Pump)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EXPDP — Export complet du schéma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IMPDP — Import/restauration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DIRECTORY DATA_PUMP_DIR configuré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Script batch automatisé 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Sauvegarde quotidienne à 02h00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Compression des dumps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Rotation automatique (30 jours)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</a:defRPr>
            </a:pPr>
            <a:r>
              <a:t>Connexion Django ↔ Oracle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ENGINE: django.db.backends.oracle  →  oracledb (compatible cx_Oracle)  →  Oracle 18c XE (localhost:1521/XE)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Models avec managed=False — Django lit/écrit sans modifier le schéma Oracle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oracle_services.py — cursor.callfunc() et cursor.callproc() pour appeler le PL/SQL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5C28"/>
                </a:solidFill>
              </a:defRPr>
            </a:pPr>
            <a:r>
              <a:t>11. Conclusion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A3A"/>
                </a:solidFill>
              </a:defRPr>
            </a:pPr>
            <a:r>
              <a:t>Ce qui a été réalisé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Base Oracle complète (12 tables, 120K+ lignes)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PL/SQL avancé (packages, fonctions, procédures)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8 triggers (audit + règles métier)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9 vues (classiques + matérialisées)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Optimisation avec EXPLAIN PLAN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Application Django fonctionnelle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 rôles utilisateurs distincts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Export PDF/Excel + sauvegarde Data Pump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</a:defRPr>
            </a:pPr>
            <a:r>
              <a:t>Perspectives d'évolution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Déploiement en production (serveur)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Intégration avec le SI de l'ISCAE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Notifications par email/SMS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Application mobile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Dashboard en temps réel (WebSocket)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Partitionnement Oracle pour le volume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Oracle RAC pour la haute disponibilité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Intégration avec un ERP académique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Projet Oracle - ISCAE Nouakchott - 2025/2026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10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s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9728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28"/>
                </a:solidFill>
              </a:defRPr>
            </a:pPr>
            <a:r>
              <a:t>Merci pour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33295" cy="36576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Des 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IP22240 — Cherifa Mohamed Yeslem Bellahi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IP22237 — El Vagih Ahmed Zeine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51052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ISCAE Nouakchott — Master MPIAG —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